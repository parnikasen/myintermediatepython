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jPokEGqDrM+N4NMa4C/lIG5ONo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266734-0E94-42DA-8C4A-891B610E8CE4}">
  <a:tblStyle styleId="{DE266734-0E94-42DA-8C4A-891B610E8C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C8FED1-E167-46AD-A6DE-F9B5763A1B8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gex.asp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Regular Expressions(re) </a:t>
            </a:r>
            <a:br>
              <a:rPr lang="en-US" b="1"/>
            </a:br>
            <a:r>
              <a:rPr lang="en-US" b="1"/>
              <a:t>in Python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b="1"/>
              <a:t>Regex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251520" y="285728"/>
            <a:ext cx="8712968" cy="616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Problem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lang="en-US">
                <a:solidFill>
                  <a:srgbClr val="002060"/>
                </a:solidFill>
              </a:rPr>
              <a:t>Write a Python code to check if the given mobile number is valid or not. The conditions to be satisfied for a mobile number are: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	a) Number of characters must be 10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	b) All characters must be digits and must not begin with a ‘0’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457200" y="614158"/>
            <a:ext cx="8229600" cy="58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 b="1"/>
              <a:t>Validity of Mobile Number</a:t>
            </a:r>
            <a:endParaRPr/>
          </a:p>
        </p:txBody>
      </p:sp>
      <p:graphicFrame>
        <p:nvGraphicFramePr>
          <p:cNvPr id="102" name="Google Shape;102;p3"/>
          <p:cNvGraphicFramePr/>
          <p:nvPr/>
        </p:nvGraphicFramePr>
        <p:xfrm>
          <a:off x="362272" y="2389086"/>
          <a:ext cx="8458200" cy="3200150"/>
        </p:xfrm>
        <a:graphic>
          <a:graphicData uri="http://schemas.openxmlformats.org/drawingml/2006/table">
            <a:tbl>
              <a:tblPr>
                <a:noFill/>
                <a:tableStyleId>{DE266734-0E94-42DA-8C4A-891B610E8CE4}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0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string representing a mobile number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Take character by character and check if it valid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 valid or invalid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28596" y="142876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Test Case 1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428596" y="1000108"/>
            <a:ext cx="8229600" cy="61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abc8967891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7158" y="1714488"/>
            <a:ext cx="8229600" cy="175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Invalid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Alphabets are not allowed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428596" y="142876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Test Case 2</a:t>
            </a:r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428596" y="1000108"/>
            <a:ext cx="8229600" cy="61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440446845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357158" y="1714488"/>
            <a:ext cx="8229600" cy="175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Invalid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Only 9 digits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428596" y="142876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Test Case 3</a:t>
            </a:r>
            <a:endParaRPr/>
          </a:p>
        </p:txBody>
      </p:sp>
      <p:sp>
        <p:nvSpPr>
          <p:cNvPr id="122" name="Google Shape;122;p6"/>
          <p:cNvSpPr txBox="1">
            <a:spLocks noGrp="1"/>
          </p:cNvSpPr>
          <p:nvPr>
            <p:ph type="body" idx="1"/>
          </p:nvPr>
        </p:nvSpPr>
        <p:spPr>
          <a:xfrm>
            <a:off x="428596" y="1000108"/>
            <a:ext cx="8229600" cy="61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0440446845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357158" y="1714488"/>
            <a:ext cx="8229600" cy="175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Invalid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Should not begin with a zero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428596" y="142876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Test Case 4</a:t>
            </a:r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428596" y="1000108"/>
            <a:ext cx="8229600" cy="61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8440446845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357158" y="1714488"/>
            <a:ext cx="8229600" cy="175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conditions satisfied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457200" y="142876"/>
            <a:ext cx="8229600" cy="664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>
                <a:solidFill>
                  <a:srgbClr val="C00000"/>
                </a:solidFill>
              </a:rPr>
              <a:t>Python code to check validity of mobile number (Long Code)</a:t>
            </a:r>
            <a:endParaRPr/>
          </a:p>
          <a:p>
            <a:pPr marL="342900" lvl="0" indent="-342900" algn="l" rtl="0">
              <a:spcBef>
                <a:spcPts val="18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200"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import sys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number = input()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if len(number)!=10: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 ('invalid')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sys.exit(0)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if number[0]==‘0’: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	print ('invalid')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sys.exit(0)	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for chr in number: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if chr.isalpha():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    print ('invalid')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    break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print('Valid‘)  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457200" y="684909"/>
            <a:ext cx="8229600" cy="584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Manipulating text or data is a big thing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If I were running an e-mail archiving company, and you, as one of my customers, requested all of the e-mail that you sent and received last February, for example, it would be nice if I could set a computer program to collate and forward that information to you, rather than having a human being read through your e-mail and process your request manually.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57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 Another example request might be to look for a subject line like “ILOVE_YOU,” indicating a virus-infected message, and remove those e-mail messages from your personal archive.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So this demands the question of how we can program machines with the ability to look for patterns in text.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Regular expressions provide such an infrastructure for advanced text </a:t>
            </a:r>
            <a:r>
              <a:rPr lang="en-US" b="1">
                <a:solidFill>
                  <a:srgbClr val="002060"/>
                </a:solidFill>
              </a:rPr>
              <a:t>pattern matching</a:t>
            </a:r>
            <a:r>
              <a:rPr lang="en-US">
                <a:solidFill>
                  <a:srgbClr val="002060"/>
                </a:solidFill>
              </a:rPr>
              <a:t>, extraction, and/or search-and-replace functionality. </a:t>
            </a:r>
            <a:endParaRPr/>
          </a:p>
          <a:p>
            <a:pPr marL="342900" lvl="0" indent="-342900" algn="just" rtl="0"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 b="1">
                <a:solidFill>
                  <a:srgbClr val="002060"/>
                </a:solidFill>
              </a:rPr>
              <a:t>Python supports regexes </a:t>
            </a:r>
            <a:r>
              <a:rPr lang="en-US">
                <a:solidFill>
                  <a:srgbClr val="002060"/>
                </a:solidFill>
              </a:rPr>
              <a:t>through the </a:t>
            </a:r>
            <a:r>
              <a:rPr lang="en-US" b="1">
                <a:solidFill>
                  <a:srgbClr val="002060"/>
                </a:solidFill>
              </a:rPr>
              <a:t>standard library re </a:t>
            </a:r>
            <a:r>
              <a:rPr lang="en-US">
                <a:solidFill>
                  <a:srgbClr val="002060"/>
                </a:solidFill>
              </a:rPr>
              <a:t>module  -&gt; </a:t>
            </a:r>
            <a:r>
              <a:rPr lang="en-US" sz="3600" b="1">
                <a:solidFill>
                  <a:srgbClr val="FF0000"/>
                </a:solidFill>
              </a:rPr>
              <a:t>import re</a:t>
            </a:r>
            <a:endParaRPr sz="3600" b="1">
              <a:solidFill>
                <a:srgbClr val="FF0000"/>
              </a:solidFill>
            </a:endParaRPr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250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regexes are </a:t>
            </a:r>
            <a:r>
              <a:rPr lang="en-US" b="1">
                <a:solidFill>
                  <a:srgbClr val="002060"/>
                </a:solidFill>
              </a:rPr>
              <a:t>strings containing text and special characters </a:t>
            </a:r>
            <a:r>
              <a:rPr lang="en-US">
                <a:solidFill>
                  <a:srgbClr val="002060"/>
                </a:solidFill>
              </a:rPr>
              <a:t>that describe a </a:t>
            </a:r>
            <a:r>
              <a:rPr lang="en-US" b="1">
                <a:solidFill>
                  <a:srgbClr val="002060"/>
                </a:solidFill>
              </a:rPr>
              <a:t>pattern </a:t>
            </a:r>
            <a:r>
              <a:rPr lang="en-US">
                <a:solidFill>
                  <a:srgbClr val="002060"/>
                </a:solidFill>
              </a:rPr>
              <a:t>with which to recognize multiple strings.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Regexs without special characters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</p:txBody>
      </p:sp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483" y="2500306"/>
            <a:ext cx="7481855" cy="16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214314" y="4500570"/>
            <a:ext cx="8643966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These are simple expressions that match a single string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Power of regular expressions comes in when special characters are used to define </a:t>
            </a: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character sets, subgroup matching, and pattern repetition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body" idx="1"/>
          </p:nvPr>
        </p:nvSpPr>
        <p:spPr>
          <a:xfrm>
            <a:off x="1807578" y="214290"/>
            <a:ext cx="5500726" cy="50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>
                <a:solidFill>
                  <a:srgbClr val="C00000"/>
                </a:solidFill>
              </a:rPr>
              <a:t>Special Symbols and Characters</a:t>
            </a:r>
            <a:endParaRPr/>
          </a:p>
          <a:p>
            <a:pPr marL="342900" lvl="0" indent="-154940" algn="ct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1001818"/>
            <a:ext cx="8471243" cy="552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1879586" y="214290"/>
            <a:ext cx="5500726" cy="50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>
                <a:solidFill>
                  <a:srgbClr val="C00000"/>
                </a:solidFill>
              </a:rPr>
              <a:t>Special Symbols and Characters</a:t>
            </a:r>
            <a:endParaRPr/>
          </a:p>
          <a:p>
            <a:pPr marL="342900" lvl="0" indent="-154940" algn="ct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94" y="836712"/>
            <a:ext cx="7168310" cy="5008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body" idx="1"/>
          </p:nvPr>
        </p:nvSpPr>
        <p:spPr>
          <a:xfrm>
            <a:off x="1807578" y="214290"/>
            <a:ext cx="5500726" cy="50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>
                <a:solidFill>
                  <a:srgbClr val="C00000"/>
                </a:solidFill>
              </a:rPr>
              <a:t>Special Symbols and Characters</a:t>
            </a:r>
            <a:endParaRPr/>
          </a:p>
          <a:p>
            <a:pPr marL="342900" lvl="0" indent="-154940" algn="ct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5656" y="1556792"/>
            <a:ext cx="5656711" cy="296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21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Matching Any Single Character (.)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dot or period (.) symbol </a:t>
            </a:r>
            <a:r>
              <a:rPr lang="en-US">
                <a:solidFill>
                  <a:srgbClr val="002060"/>
                </a:solidFill>
              </a:rPr>
              <a:t>(letter, number, whitespace (not including “\n”), printable, non-printable, or a symbol) </a:t>
            </a:r>
            <a:r>
              <a:rPr lang="en-US" b="1">
                <a:solidFill>
                  <a:srgbClr val="002060"/>
                </a:solidFill>
              </a:rPr>
              <a:t>matches any single character except for \n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US">
                <a:solidFill>
                  <a:srgbClr val="002060"/>
                </a:solidFill>
              </a:rPr>
              <a:t> To specify a dot character explicitly, you must escape its functionality with a </a:t>
            </a:r>
            <a:r>
              <a:rPr lang="en-US" b="1">
                <a:solidFill>
                  <a:srgbClr val="002060"/>
                </a:solidFill>
              </a:rPr>
              <a:t>backslash</a:t>
            </a:r>
            <a:r>
              <a:rPr lang="en-US">
                <a:solidFill>
                  <a:srgbClr val="002060"/>
                </a:solidFill>
              </a:rPr>
              <a:t>, as in </a:t>
            </a:r>
            <a:r>
              <a:rPr lang="en-US" b="1">
                <a:solidFill>
                  <a:srgbClr val="002060"/>
                </a:solidFill>
              </a:rPr>
              <a:t>“\.” </a:t>
            </a:r>
            <a:endParaRPr b="1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30884"/>
            <a:ext cx="9144000" cy="393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395536" y="4365104"/>
            <a:ext cx="40863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.end  -&gt;   aend, 2end, qend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>
            <a:spLocks noGrp="1"/>
          </p:cNvSpPr>
          <p:nvPr>
            <p:ph type="body" idx="1"/>
          </p:nvPr>
        </p:nvSpPr>
        <p:spPr>
          <a:xfrm>
            <a:off x="251520" y="449124"/>
            <a:ext cx="8712968" cy="622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# Example - 1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b="1" dirty="0">
                <a:solidFill>
                  <a:srgbClr val="002060"/>
                </a:solidFill>
              </a:rPr>
              <a:t>import re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if </a:t>
            </a:r>
            <a:r>
              <a:rPr lang="en-US" b="1" dirty="0" err="1">
                <a:solidFill>
                  <a:srgbClr val="002060"/>
                </a:solidFill>
              </a:rPr>
              <a:t>re.match</a:t>
            </a:r>
            <a:r>
              <a:rPr lang="en-US" b="1" dirty="0">
                <a:solidFill>
                  <a:srgbClr val="002060"/>
                </a:solidFill>
              </a:rPr>
              <a:t>(“f.o","</a:t>
            </a:r>
            <a:r>
              <a:rPr lang="en-US" b="1" dirty="0" err="1">
                <a:solidFill>
                  <a:srgbClr val="002060"/>
                </a:solidFill>
              </a:rPr>
              <a:t>fooooo</a:t>
            </a:r>
            <a:r>
              <a:rPr lang="en-US" b="1" dirty="0">
                <a:solidFill>
                  <a:srgbClr val="002060"/>
                </a:solidFill>
              </a:rPr>
              <a:t>"):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    print("Matched")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else: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    print("Not matched")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 dirty="0">
                <a:solidFill>
                  <a:srgbClr val="C00000"/>
                </a:solidFill>
              </a:rPr>
              <a:t>Output: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Prints </a:t>
            </a:r>
            <a:r>
              <a:rPr lang="en-US" dirty="0">
                <a:solidFill>
                  <a:srgbClr val="FF0000"/>
                </a:solidFill>
              </a:rPr>
              <a:t>Matched</a:t>
            </a:r>
            <a:endParaRPr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dirty="0">
                <a:solidFill>
                  <a:srgbClr val="002060"/>
                </a:solidFill>
              </a:rPr>
              <a:t>Since it searches only for the </a:t>
            </a:r>
            <a:r>
              <a:rPr lang="en-US" b="1" dirty="0">
                <a:solidFill>
                  <a:srgbClr val="002060"/>
                </a:solidFill>
              </a:rPr>
              <a:t>pattern ‘</a:t>
            </a:r>
            <a:r>
              <a:rPr lang="en-US" b="1" dirty="0" err="1">
                <a:solidFill>
                  <a:srgbClr val="002060"/>
                </a:solidFill>
              </a:rPr>
              <a:t>f.o</a:t>
            </a:r>
            <a:r>
              <a:rPr lang="en-US" b="1" dirty="0">
                <a:solidFill>
                  <a:srgbClr val="002060"/>
                </a:solidFill>
              </a:rPr>
              <a:t>’ </a:t>
            </a:r>
            <a:r>
              <a:rPr lang="en-US" dirty="0">
                <a:solidFill>
                  <a:srgbClr val="002060"/>
                </a:solidFill>
              </a:rPr>
              <a:t>in the string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body" idx="1"/>
          </p:nvPr>
        </p:nvSpPr>
        <p:spPr>
          <a:xfrm>
            <a:off x="285720" y="593140"/>
            <a:ext cx="8686800" cy="602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# Example - 2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import re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if </a:t>
            </a:r>
            <a:r>
              <a:rPr lang="en-US" dirty="0" err="1">
                <a:solidFill>
                  <a:srgbClr val="002060"/>
                </a:solidFill>
              </a:rPr>
              <a:t>re.match</a:t>
            </a:r>
            <a:r>
              <a:rPr lang="en-US" dirty="0">
                <a:solidFill>
                  <a:srgbClr val="002060"/>
                </a:solidFill>
              </a:rPr>
              <a:t>("</a:t>
            </a:r>
            <a:r>
              <a:rPr lang="en-US" dirty="0" err="1">
                <a:solidFill>
                  <a:srgbClr val="002060"/>
                </a:solidFill>
              </a:rPr>
              <a:t>f.o$",“hi</a:t>
            </a:r>
            <a:r>
              <a:rPr lang="en-US" dirty="0">
                <a:solidFill>
                  <a:srgbClr val="002060"/>
                </a:solidFill>
              </a:rPr>
              <a:t> all foo all"):</a:t>
            </a:r>
            <a:endParaRPr dirty="0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    print("Matched")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else: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dirty="0">
                <a:solidFill>
                  <a:srgbClr val="002060"/>
                </a:solidFill>
              </a:rPr>
              <a:t>    print("Not matched")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dirty="0">
                <a:solidFill>
                  <a:srgbClr val="C00000"/>
                </a:solidFill>
              </a:rPr>
              <a:t>Check that the </a:t>
            </a:r>
            <a:r>
              <a:rPr lang="en-US" b="1" dirty="0">
                <a:solidFill>
                  <a:srgbClr val="0070C0"/>
                </a:solidFill>
              </a:rPr>
              <a:t>entire string starts with ‘f</a:t>
            </a:r>
            <a:r>
              <a:rPr lang="en-US" dirty="0">
                <a:solidFill>
                  <a:srgbClr val="0070C0"/>
                </a:solidFill>
              </a:rPr>
              <a:t>’, </a:t>
            </a:r>
            <a:r>
              <a:rPr lang="en-US" b="1" dirty="0">
                <a:solidFill>
                  <a:srgbClr val="0070C0"/>
                </a:solidFill>
              </a:rPr>
              <a:t>ends with ‘o’</a:t>
            </a:r>
            <a:r>
              <a:rPr lang="en-US" dirty="0">
                <a:solidFill>
                  <a:srgbClr val="0070C0"/>
                </a:solidFill>
              </a:rPr>
              <a:t> and </a:t>
            </a:r>
            <a:r>
              <a:rPr lang="en-US" b="1" dirty="0">
                <a:solidFill>
                  <a:srgbClr val="0070C0"/>
                </a:solidFill>
              </a:rPr>
              <a:t>contain one letter in between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38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# Example – 3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re.match("..$","fooo  hi  ji"):</a:t>
            </a: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print("Not 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Not matched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Including a </a:t>
            </a:r>
            <a:r>
              <a:rPr lang="en-US" b="1">
                <a:solidFill>
                  <a:srgbClr val="002060"/>
                </a:solidFill>
              </a:rPr>
              <a:t>‘$’ at the end </a:t>
            </a:r>
            <a:r>
              <a:rPr lang="en-US">
                <a:solidFill>
                  <a:srgbClr val="002060"/>
                </a:solidFill>
              </a:rPr>
              <a:t>will </a:t>
            </a:r>
            <a:r>
              <a:rPr lang="en-US" b="1">
                <a:solidFill>
                  <a:srgbClr val="002060"/>
                </a:solidFill>
              </a:rPr>
              <a:t>match only strings </a:t>
            </a:r>
            <a:r>
              <a:rPr lang="en-US">
                <a:solidFill>
                  <a:srgbClr val="002060"/>
                </a:solidFill>
              </a:rPr>
              <a:t>of </a:t>
            </a:r>
            <a:r>
              <a:rPr lang="en-US" b="1">
                <a:solidFill>
                  <a:srgbClr val="002060"/>
                </a:solidFill>
              </a:rPr>
              <a:t>length 2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16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# Example - 4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re.match("..","fooo"):</a:t>
            </a: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print("Not 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Matched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Two dots matches </a:t>
            </a:r>
            <a:r>
              <a:rPr lang="en-US" b="1">
                <a:solidFill>
                  <a:srgbClr val="002060"/>
                </a:solidFill>
              </a:rPr>
              <a:t>any</a:t>
            </a:r>
            <a:r>
              <a:rPr lang="en-US">
                <a:solidFill>
                  <a:srgbClr val="002060"/>
                </a:solidFill>
              </a:rPr>
              <a:t> pair of characters.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557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# Example – 5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if re.match(".end",“bend hi all"):</a:t>
            </a: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print("Not matched")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Matched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The expression used in the example, </a:t>
            </a:r>
            <a:r>
              <a:rPr lang="en-US" b="1">
                <a:solidFill>
                  <a:srgbClr val="002060"/>
                </a:solidFill>
              </a:rPr>
              <a:t>matches any character for ‘.’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595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# Example – 6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re.match(".end","bends"):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print("Not 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>
                <a:solidFill>
                  <a:srgbClr val="C00000"/>
                </a:solidFill>
              </a:rPr>
              <a:t>Prints Matched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50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# Example – 7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re.match(“end.$",“all the ends best bends"):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print("Not matched“)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>
                <a:solidFill>
                  <a:srgbClr val="C00000"/>
                </a:solidFill>
              </a:rPr>
              <a:t>Prints Not matched - $ check for end of string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59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Matching from the Beginning or End of Strings or Word Boundaries (^, $)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^ - </a:t>
            </a:r>
            <a:r>
              <a:rPr lang="en-US" b="1">
                <a:solidFill>
                  <a:srgbClr val="002060"/>
                </a:solidFill>
              </a:rPr>
              <a:t>Match beginning </a:t>
            </a:r>
            <a:r>
              <a:rPr lang="en-US">
                <a:solidFill>
                  <a:srgbClr val="002060"/>
                </a:solidFill>
              </a:rPr>
              <a:t>of string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$ - </a:t>
            </a:r>
            <a:r>
              <a:rPr lang="en-US" b="1">
                <a:solidFill>
                  <a:srgbClr val="002060"/>
                </a:solidFill>
              </a:rPr>
              <a:t>Match End </a:t>
            </a:r>
            <a:r>
              <a:rPr lang="en-US">
                <a:solidFill>
                  <a:srgbClr val="002060"/>
                </a:solidFill>
              </a:rPr>
              <a:t>of string</a:t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034" y="3140968"/>
            <a:ext cx="7715272" cy="33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/>
          <p:nvPr/>
        </p:nvSpPr>
        <p:spPr>
          <a:xfrm>
            <a:off x="500034" y="357166"/>
            <a:ext cx="8001056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if you wanted to match any string that </a:t>
            </a:r>
            <a:r>
              <a:rPr lang="en-US" sz="4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ends with a dollar sign</a:t>
            </a:r>
            <a:r>
              <a:rPr lang="en-US" sz="4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one possible regex solution would be the pattern </a:t>
            </a:r>
            <a:r>
              <a:rPr lang="en-US" sz="4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.*\$$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02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But not sufficient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C0000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C0000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Check whether the given register number of a VIT student is valid or not.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 b="1">
                <a:solidFill>
                  <a:srgbClr val="002060"/>
                </a:solidFill>
              </a:rPr>
              <a:t>Example register number – 17BME1001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Register number is valid if it has two digits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Followed by three letters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Followed by four digits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Denoting Ranges (-) and Negation (^) </a:t>
            </a:r>
            <a:endParaRPr/>
          </a:p>
          <a:p>
            <a:pPr marL="342900" lvl="0" indent="-342900" algn="ctr" rtl="0">
              <a:lnSpc>
                <a:spcPct val="15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C00000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▪"/>
            </a:pPr>
            <a:r>
              <a:rPr lang="en-US" b="1">
                <a:solidFill>
                  <a:srgbClr val="002060"/>
                </a:solidFill>
              </a:rPr>
              <a:t>brackets</a:t>
            </a:r>
            <a:r>
              <a:rPr lang="en-US">
                <a:solidFill>
                  <a:srgbClr val="002060"/>
                </a:solidFill>
              </a:rPr>
              <a:t> [] also support </a:t>
            </a:r>
            <a:r>
              <a:rPr lang="en-US" b="1">
                <a:solidFill>
                  <a:srgbClr val="002060"/>
                </a:solidFill>
              </a:rPr>
              <a:t>ranges of characters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A </a:t>
            </a:r>
            <a:r>
              <a:rPr lang="en-US" b="1">
                <a:solidFill>
                  <a:srgbClr val="002060"/>
                </a:solidFill>
              </a:rPr>
              <a:t>hyphen [a-z] between a pair of symbols </a:t>
            </a:r>
            <a:r>
              <a:rPr lang="en-US">
                <a:solidFill>
                  <a:srgbClr val="002060"/>
                </a:solidFill>
              </a:rPr>
              <a:t>enclosed in brackets is used to indicate a range of characters;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Noto Sans Symbols"/>
              <a:buChar char="▪"/>
            </a:pPr>
            <a:r>
              <a:rPr lang="en-US" b="1">
                <a:solidFill>
                  <a:srgbClr val="002060"/>
                </a:solidFill>
              </a:rPr>
              <a:t>For example:   A–Z, a–z, or 0–9 or 1-9 </a:t>
            </a:r>
            <a:r>
              <a:rPr lang="en-US">
                <a:solidFill>
                  <a:srgbClr val="002060"/>
                </a:solidFill>
              </a:rPr>
              <a:t>for uppercase letters, lowercase letters, and numeric digits, respectively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596" y="230309"/>
            <a:ext cx="8020132" cy="60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00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Multiple Occurrence / Repetition </a:t>
            </a:r>
            <a:endParaRPr/>
          </a:p>
          <a:p>
            <a:pPr marL="342900" lvl="0" indent="-3429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Using Closure Operators (*, +, ?, {}) </a:t>
            </a:r>
            <a:endParaRPr/>
          </a:p>
          <a:p>
            <a:pPr marL="342900" lvl="0" indent="-3429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C00000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▪"/>
            </a:pPr>
            <a:r>
              <a:rPr lang="en-US" b="1">
                <a:solidFill>
                  <a:srgbClr val="002060"/>
                </a:solidFill>
              </a:rPr>
              <a:t>special symbols *, +, and ? , </a:t>
            </a:r>
            <a:r>
              <a:rPr lang="en-US">
                <a:solidFill>
                  <a:srgbClr val="002060"/>
                </a:solidFill>
              </a:rPr>
              <a:t>all of which can be used to match single, multiple, or no occurrences of string patterns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▪"/>
            </a:pPr>
            <a:r>
              <a:rPr lang="en-US" b="1">
                <a:solidFill>
                  <a:srgbClr val="C00000"/>
                </a:solidFill>
              </a:rPr>
              <a:t>Asterisk or star operator (*)</a:t>
            </a:r>
            <a:r>
              <a:rPr lang="en-US" b="1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- </a:t>
            </a:r>
            <a:r>
              <a:rPr lang="en-US" b="1">
                <a:solidFill>
                  <a:srgbClr val="002060"/>
                </a:solidFill>
              </a:rPr>
              <a:t>match zero or more occurrences</a:t>
            </a:r>
            <a:r>
              <a:rPr lang="en-US">
                <a:solidFill>
                  <a:srgbClr val="002060"/>
                </a:solidFill>
              </a:rPr>
              <a:t> of the regex immediately to its left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▪"/>
            </a:pPr>
            <a:r>
              <a:rPr lang="en-US" b="1">
                <a:solidFill>
                  <a:srgbClr val="C00000"/>
                </a:solidFill>
              </a:rPr>
              <a:t>Plus operator (+)</a:t>
            </a:r>
            <a:r>
              <a:rPr lang="en-US" b="1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- </a:t>
            </a:r>
            <a:r>
              <a:rPr lang="en-US" b="1">
                <a:solidFill>
                  <a:srgbClr val="002060"/>
                </a:solidFill>
              </a:rPr>
              <a:t>Match one or more occurrences </a:t>
            </a:r>
            <a:r>
              <a:rPr lang="en-US">
                <a:solidFill>
                  <a:srgbClr val="002060"/>
                </a:solidFill>
              </a:rPr>
              <a:t>of a regex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285720" y="1078956"/>
            <a:ext cx="8686800" cy="4942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▪"/>
            </a:pPr>
            <a:r>
              <a:rPr lang="en-US" b="1">
                <a:solidFill>
                  <a:srgbClr val="C00000"/>
                </a:solidFill>
              </a:rPr>
              <a:t>Question mark operator (?)</a:t>
            </a:r>
            <a:r>
              <a:rPr lang="en-US" b="1">
                <a:solidFill>
                  <a:srgbClr val="002060"/>
                </a:solidFill>
              </a:rPr>
              <a:t> :</a:t>
            </a:r>
            <a:r>
              <a:rPr lang="en-US">
                <a:solidFill>
                  <a:srgbClr val="002060"/>
                </a:solidFill>
              </a:rPr>
              <a:t> match </a:t>
            </a:r>
            <a:r>
              <a:rPr lang="en-US" b="1">
                <a:solidFill>
                  <a:srgbClr val="002060"/>
                </a:solidFill>
              </a:rPr>
              <a:t>exactly 0 or 1 occurrences</a:t>
            </a:r>
            <a:r>
              <a:rPr lang="en-US">
                <a:solidFill>
                  <a:srgbClr val="002060"/>
                </a:solidFill>
              </a:rPr>
              <a:t> of a regex</a:t>
            </a:r>
            <a:r>
              <a:rPr lang="en-US"/>
              <a:t>.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There are also </a:t>
            </a:r>
            <a:r>
              <a:rPr lang="en-US" b="1">
                <a:solidFill>
                  <a:srgbClr val="002060"/>
                </a:solidFill>
              </a:rPr>
              <a:t>brace operators ({}) </a:t>
            </a:r>
            <a:r>
              <a:rPr lang="en-US">
                <a:solidFill>
                  <a:srgbClr val="002060"/>
                </a:solidFill>
              </a:rPr>
              <a:t>with either a </a:t>
            </a:r>
            <a:r>
              <a:rPr lang="en-US" b="1">
                <a:solidFill>
                  <a:srgbClr val="002060"/>
                </a:solidFill>
              </a:rPr>
              <a:t>single value or a comma-separated pair of values</a:t>
            </a:r>
            <a:r>
              <a:rPr lang="en-US">
                <a:solidFill>
                  <a:srgbClr val="002060"/>
                </a:solidFill>
              </a:rPr>
              <a:t>. These indicate a </a:t>
            </a:r>
            <a:r>
              <a:rPr lang="en-US" b="1">
                <a:solidFill>
                  <a:srgbClr val="002060"/>
                </a:solidFill>
              </a:rPr>
              <a:t>match of exactly N occurrences</a:t>
            </a:r>
            <a:r>
              <a:rPr lang="en-US">
                <a:solidFill>
                  <a:srgbClr val="002060"/>
                </a:solidFill>
              </a:rPr>
              <a:t> (for {N}) or a range of occurrences; </a:t>
            </a:r>
            <a:r>
              <a:rPr lang="en-US" b="1">
                <a:solidFill>
                  <a:srgbClr val="002060"/>
                </a:solidFill>
              </a:rPr>
              <a:t>for example</a:t>
            </a:r>
            <a:r>
              <a:rPr lang="en-US">
                <a:solidFill>
                  <a:srgbClr val="002060"/>
                </a:solidFill>
              </a:rPr>
              <a:t>, </a:t>
            </a:r>
            <a:r>
              <a:rPr lang="en-US" b="1">
                <a:solidFill>
                  <a:srgbClr val="002060"/>
                </a:solidFill>
              </a:rPr>
              <a:t>{M, N} </a:t>
            </a:r>
            <a:r>
              <a:rPr lang="en-US">
                <a:solidFill>
                  <a:srgbClr val="002060"/>
                </a:solidFill>
              </a:rPr>
              <a:t>will </a:t>
            </a:r>
            <a:r>
              <a:rPr lang="en-US" b="1">
                <a:solidFill>
                  <a:srgbClr val="002060"/>
                </a:solidFill>
              </a:rPr>
              <a:t>match from M to N occurrences.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5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Code to check the validity of register number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register= input()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</a:t>
            </a:r>
            <a:r>
              <a:rPr lang="en-US" b="1">
                <a:solidFill>
                  <a:srgbClr val="002060"/>
                </a:solidFill>
              </a:rPr>
              <a:t>re.match("</a:t>
            </a:r>
            <a:r>
              <a:rPr lang="en-US" b="1">
                <a:solidFill>
                  <a:srgbClr val="C00000"/>
                </a:solidFill>
              </a:rPr>
              <a:t>^</a:t>
            </a:r>
            <a:r>
              <a:rPr lang="en-US" b="1">
                <a:solidFill>
                  <a:srgbClr val="002060"/>
                </a:solidFill>
              </a:rPr>
              <a:t>[1-9][0-9][a-zA-Z][a-zA-Z][a-zA-Z][0-9][0-9][0-9][0-9]</a:t>
            </a:r>
            <a:r>
              <a:rPr lang="en-US" b="1">
                <a:solidFill>
                  <a:srgbClr val="C00000"/>
                </a:solidFill>
              </a:rPr>
              <a:t>$</a:t>
            </a:r>
            <a:r>
              <a:rPr lang="en-US" b="1">
                <a:solidFill>
                  <a:srgbClr val="002060"/>
                </a:solidFill>
              </a:rPr>
              <a:t>"</a:t>
            </a:r>
            <a:r>
              <a:rPr lang="en-US">
                <a:solidFill>
                  <a:srgbClr val="002060"/>
                </a:solidFill>
              </a:rPr>
              <a:t>,register):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print("Matched")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print("Not matched“)</a:t>
            </a:r>
            <a:endParaRPr/>
          </a:p>
        </p:txBody>
      </p:sp>
      <p:sp>
        <p:nvSpPr>
          <p:cNvPr id="258" name="Google Shape;258;p31"/>
          <p:cNvSpPr txBox="1"/>
          <p:nvPr/>
        </p:nvSpPr>
        <p:spPr>
          <a:xfrm>
            <a:off x="251520" y="5101144"/>
            <a:ext cx="8686800" cy="14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^ - denote begin (Meaning is different when we put this symbol inside the square bracket)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$ - denote end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034" y="285728"/>
            <a:ext cx="8358214" cy="587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33"/>
          <p:cNvGraphicFramePr/>
          <p:nvPr/>
        </p:nvGraphicFramePr>
        <p:xfrm>
          <a:off x="539553" y="332658"/>
          <a:ext cx="8064925" cy="6192650"/>
        </p:xfrm>
        <a:graphic>
          <a:graphicData uri="http://schemas.openxmlformats.org/drawingml/2006/table">
            <a:tbl>
              <a:tblPr>
                <a:noFill/>
                <a:tableStyleId>{EDC8FED1-E167-46AD-A6DE-F9B5763A1B83}</a:tableStyleId>
              </a:tblPr>
              <a:tblGrid>
                <a:gridCol w="218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Valid 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Invalid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[dn]ot?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dot, not, do, no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dnt, dn,dott,dottt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[dn]ot?$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dot, not, do, no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dnt, dn,dott,nott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[dn]ot*$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dott,nott,do,no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dotn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[dn]ot*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Do,no,dot,dottt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[0-9]{2,5}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12, 123, 1234, 12345, a123456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1,2,4,5,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[0-9]{5}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12345, 123456, a1234567,111111111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12, 123, 1234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aX{2,4}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aXX,aXXX,aXXXX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 ,aX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b="1">
                <a:solidFill>
                  <a:srgbClr val="C00000"/>
                </a:solidFill>
              </a:rPr>
              <a:t>Refined Code to check the validity of register number</a:t>
            </a:r>
            <a:endParaRPr/>
          </a:p>
          <a:p>
            <a:pPr marL="342900" lvl="0" indent="-342900" algn="ctr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b="1">
              <a:solidFill>
                <a:srgbClr val="C0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b="1">
                <a:solidFill>
                  <a:srgbClr val="002060"/>
                </a:solidFill>
              </a:rPr>
              <a:t>{n} </a:t>
            </a:r>
            <a:r>
              <a:rPr lang="en-US">
                <a:solidFill>
                  <a:srgbClr val="002060"/>
                </a:solidFill>
              </a:rPr>
              <a:t>– indicate that the pattern before the braces </a:t>
            </a:r>
            <a:r>
              <a:rPr lang="en-US" b="1">
                <a:solidFill>
                  <a:srgbClr val="002060"/>
                </a:solidFill>
              </a:rPr>
              <a:t>should occur n times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register= input()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if re.match("^[1-9][0-9][a-zA-Z]{3}[0-9]{4}$”, register):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print("Matched")    -&gt;  20BCE1020</a:t>
            </a: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  print("Not matched")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6310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Check validity of Mobile Number (Shorter Code)</a:t>
            </a:r>
            <a:endParaRPr/>
          </a:p>
          <a:p>
            <a:pPr marL="342900" lvl="0" indent="-3429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>
              <a:solidFill>
                <a:srgbClr val="C0000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number = input()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re.match(‘[^0][0-9]{9}',number):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print('valid')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print('invalid')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Bug: Will also accept a843338320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285720" y="142852"/>
            <a:ext cx="8686800" cy="492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b="1">
                <a:solidFill>
                  <a:srgbClr val="C00000"/>
                </a:solidFill>
              </a:rPr>
              <a:t>Check validity of Mobile Number (Shorter Code)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solidFill>
                <a:srgbClr val="002060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import 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number = input()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if re.match(‘[1-9][0-9]{9}',number):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print('valid')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else: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print('invalid')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>
            <a:spLocks noGrp="1"/>
          </p:cNvSpPr>
          <p:nvPr>
            <p:ph type="body" idx="1"/>
          </p:nvPr>
        </p:nvSpPr>
        <p:spPr>
          <a:xfrm>
            <a:off x="457200" y="260648"/>
            <a:ext cx="8229600" cy="648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pan=input()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print(len(pan))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len(pan)&lt;10 or len(pan)&gt;10: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("PAN Number should be 10 characters")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exit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elif re.search("[^a-zA-Z0-9]",pan):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("No symbols allowed, only alphanumerics")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exit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elif re.search("[0-9]",pan[0:5]):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("Invalid - 1")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exit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elif re.search("[A-Za-z]",pan[5:9]):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("Invalid - 2")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exit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elif re.search("[0-9]",pan[-1]):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("Invalid - 3")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exit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 ("Your card "+ pan + " is valid")</a:t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3100111" y="260648"/>
            <a:ext cx="56183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 validity of PAN card number with 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Ex: CCCCC9999C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logical “or”</a:t>
            </a:r>
            <a:endParaRPr/>
          </a:p>
        </p:txBody>
      </p:sp>
      <p:sp>
        <p:nvSpPr>
          <p:cNvPr id="295" name="Google Shape;295;p38"/>
          <p:cNvSpPr txBox="1">
            <a:spLocks noGrp="1"/>
          </p:cNvSpPr>
          <p:nvPr>
            <p:ph type="body" idx="1"/>
          </p:nvPr>
        </p:nvSpPr>
        <p:spPr>
          <a:xfrm>
            <a:off x="457200" y="1285860"/>
            <a:ext cx="8229600" cy="535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 </a:t>
            </a:r>
            <a:r>
              <a:rPr lang="en-US">
                <a:solidFill>
                  <a:srgbClr val="FF0000"/>
                </a:solidFill>
              </a:rPr>
              <a:t>|</a:t>
            </a:r>
            <a:r>
              <a:rPr lang="en-US"/>
              <a:t> denotes "</a:t>
            </a:r>
            <a:r>
              <a:rPr lang="en-US">
                <a:solidFill>
                  <a:srgbClr val="FF0000"/>
                </a:solidFill>
              </a:rPr>
              <a:t>OR</a:t>
            </a:r>
            <a:r>
              <a:rPr lang="en-US"/>
              <a:t>" operator.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|</a:t>
            </a:r>
            <a:r>
              <a:rPr lang="en-US"/>
              <a:t>. This character separates terms contained within each (...) group.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example, for instance: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b="1">
                <a:solidFill>
                  <a:srgbClr val="FF0000"/>
                </a:solidFill>
              </a:rPr>
              <a:t>^I like (dogs|penguins), but not (lions|tigers).$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expression will match any of the following strings: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like dogs, but not lions.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like dogs, but not tigers.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like penguins, but not lions.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like penguins, but not tigers.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i="1"/>
              <a:t>metacharacter  </a:t>
            </a:r>
            <a:r>
              <a:rPr lang="en-US">
                <a:solidFill>
                  <a:srgbClr val="00B0F0"/>
                </a:solidFill>
              </a:rPr>
              <a:t>\d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301" name="Google Shape;301;p39"/>
          <p:cNvSpPr txBox="1">
            <a:spLocks noGrp="1"/>
          </p:cNvSpPr>
          <p:nvPr>
            <p:ph type="body" idx="1"/>
          </p:nvPr>
        </p:nvSpPr>
        <p:spPr>
          <a:xfrm>
            <a:off x="457200" y="1285860"/>
            <a:ext cx="8472518" cy="484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can replace [0-9] by metacharacter \d, but not [1-9].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b="1">
                <a:solidFill>
                  <a:srgbClr val="FF0000"/>
                </a:solidFill>
              </a:rPr>
              <a:t>			[1-9][0-9]*|0    </a:t>
            </a:r>
            <a:r>
              <a:rPr lang="en-US" b="1"/>
              <a:t>or      </a:t>
            </a:r>
            <a:r>
              <a:rPr lang="en-US" b="1">
                <a:solidFill>
                  <a:srgbClr val="FF0000"/>
                </a:solidFill>
              </a:rPr>
              <a:t> [1-9]\d*|0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"abc123xyz", it matches the substring "123".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"abcxyz", it matches nothing.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"abc123xyz456_0", it matches substrings: "123", "456" and "0" (three matches).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 "0012300", it matches substrings: "0", "0" and "12300" (three matches)!!!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54395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FF0000"/>
                </a:solidFill>
              </a:rPr>
              <a:t>^[1-9][0-9]*|0$    </a:t>
            </a:r>
            <a:r>
              <a:rPr lang="en-US" b="1"/>
              <a:t>or   </a:t>
            </a:r>
            <a:r>
              <a:rPr lang="en-US" b="1">
                <a:solidFill>
                  <a:srgbClr val="FF0000"/>
                </a:solidFill>
              </a:rPr>
              <a:t> ^[1-9]\d*|0$</a:t>
            </a:r>
            <a:endParaRPr/>
          </a:p>
        </p:txBody>
      </p:sp>
      <p:sp>
        <p:nvSpPr>
          <p:cNvPr id="307" name="Google Shape;307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 </a:t>
            </a:r>
            <a:r>
              <a:rPr lang="en-US" i="1"/>
              <a:t>position anchors</a:t>
            </a:r>
            <a:r>
              <a:rPr lang="en-US"/>
              <a:t> ^ and $ match the beginning and the ending of the input string, respectively. That is, this regex shall match the entire input string, instead of a part of the input string (substring).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 </a:t>
            </a:r>
            <a:r>
              <a:rPr lang="en-US" i="1">
                <a:solidFill>
                  <a:srgbClr val="00B0F0"/>
                </a:solidFill>
              </a:rPr>
              <a:t>occurrence indicator</a:t>
            </a:r>
            <a:r>
              <a:rPr lang="en-US" i="1"/>
              <a:t>, </a:t>
            </a:r>
            <a:r>
              <a:rPr lang="en-US"/>
              <a:t>+ for one or more, * for zero or more, and ? for zero or one.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i="1"/>
              <a:t>metacharacter</a:t>
            </a:r>
            <a:r>
              <a:rPr lang="en-US"/>
              <a:t> </a:t>
            </a:r>
            <a:r>
              <a:rPr lang="en-US">
                <a:solidFill>
                  <a:srgbClr val="00B0F0"/>
                </a:solidFill>
              </a:rPr>
              <a:t>\w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313" name="Google Shape;313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metacharacter</a:t>
            </a:r>
            <a:r>
              <a:rPr lang="en-US"/>
              <a:t> </a:t>
            </a:r>
            <a:r>
              <a:rPr lang="en-US" b="1">
                <a:solidFill>
                  <a:srgbClr val="00B0F0"/>
                </a:solidFill>
              </a:rPr>
              <a:t>\w</a:t>
            </a:r>
            <a:r>
              <a:rPr lang="en-US"/>
              <a:t> for a word character 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r>
              <a:rPr lang="en-US" b="1">
                <a:solidFill>
                  <a:srgbClr val="00B0F0"/>
                </a:solidFill>
              </a:rPr>
              <a:t>[a-zA-Z0-9_].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Recall that </a:t>
            </a:r>
            <a:r>
              <a:rPr lang="en-US" i="1"/>
              <a:t>metacharacter</a:t>
            </a:r>
            <a:r>
              <a:rPr lang="en-US"/>
              <a:t> </a:t>
            </a:r>
            <a:r>
              <a:rPr lang="en-US" b="1">
                <a:solidFill>
                  <a:srgbClr val="00B0F0"/>
                </a:solidFill>
              </a:rPr>
              <a:t>\d</a:t>
            </a:r>
            <a:r>
              <a:rPr lang="en-US"/>
              <a:t> can be used for a digit </a:t>
            </a:r>
            <a:r>
              <a:rPr lang="en-US" b="1">
                <a:solidFill>
                  <a:srgbClr val="00B0F0"/>
                </a:solidFill>
              </a:rPr>
              <a:t>[0-9]</a:t>
            </a:r>
            <a:r>
              <a:rPr lang="en-US"/>
              <a:t>.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	</a:t>
            </a:r>
            <a:r>
              <a:rPr lang="en-US" b="1">
                <a:solidFill>
                  <a:srgbClr val="FF0000"/>
                </a:solidFill>
              </a:rPr>
              <a:t>[a-zA-Z_][0-9a-zA-Z_]* </a:t>
            </a:r>
            <a:r>
              <a:rPr lang="en-US" b="1"/>
              <a:t>or</a:t>
            </a:r>
            <a:r>
              <a:rPr lang="en-US" b="1">
                <a:solidFill>
                  <a:srgbClr val="FF0000"/>
                </a:solidFill>
              </a:rPr>
              <a:t> [a-zA-Z_]\w*</a:t>
            </a:r>
            <a:endParaRPr b="1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Begin with one letters or underscore, followed by zero or more digits, letters and underscore.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i="1"/>
              <a:t>metacharacter</a:t>
            </a:r>
            <a:r>
              <a:rPr lang="en-US"/>
              <a:t> </a:t>
            </a:r>
            <a:r>
              <a:rPr lang="en-US">
                <a:solidFill>
                  <a:srgbClr val="00B0F0"/>
                </a:solidFill>
              </a:rPr>
              <a:t>\s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11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\s (space) </a:t>
            </a:r>
            <a:r>
              <a:rPr lang="en-US"/>
              <a:t>matches any single whitespace (same as [ \t\n\r\f], blank, tab, newline, carriage-return and form-feed).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uppercase counterpart </a:t>
            </a:r>
            <a:r>
              <a:rPr lang="en-US">
                <a:solidFill>
                  <a:srgbClr val="FF0000"/>
                </a:solidFill>
              </a:rPr>
              <a:t>\S (non-space) </a:t>
            </a:r>
            <a:r>
              <a:rPr lang="en-US"/>
              <a:t>matches any single character that doesn't match by \s (same as [^ \t\n\r\f]).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re.match(".[.*-]r\sm","a*r  m"):   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print("Correct")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else:   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print(“Incorrect")</a:t>
            </a:r>
            <a:endParaRPr/>
          </a:p>
        </p:txBody>
      </p:sp>
      <p:sp>
        <p:nvSpPr>
          <p:cNvPr id="320" name="Google Shape;320;p42"/>
          <p:cNvSpPr txBox="1"/>
          <p:nvPr/>
        </p:nvSpPr>
        <p:spPr>
          <a:xfrm>
            <a:off x="5500694" y="5500702"/>
            <a:ext cx="2714644" cy="64633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(Incorrect if, “a*r    m”)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i="1"/>
              <a:t>[Uppercase]</a:t>
            </a:r>
            <a:r>
              <a:rPr lang="en-US" i="1"/>
              <a:t>metacharacter</a:t>
            </a:r>
            <a:endParaRPr/>
          </a:p>
        </p:txBody>
      </p:sp>
      <p:sp>
        <p:nvSpPr>
          <p:cNvPr id="326" name="Google Shape;326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regex, the uppercase metacharacter denotes the </a:t>
            </a:r>
            <a:r>
              <a:rPr lang="en-US" i="1"/>
              <a:t>inverse</a:t>
            </a:r>
            <a:r>
              <a:rPr lang="en-US"/>
              <a:t> of the lowercase counterpart, for example, \w for word character and \W for non-word character; \d for digit and \D or non-digit.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Escape code </a:t>
            </a:r>
            <a:r>
              <a:rPr lang="en-US" b="1">
                <a:solidFill>
                  <a:srgbClr val="00B0F0"/>
                </a:solidFill>
              </a:rPr>
              <a:t>\</a:t>
            </a:r>
            <a:endParaRPr b="1">
              <a:solidFill>
                <a:srgbClr val="00B0F0"/>
              </a:solidFill>
            </a:endParaRPr>
          </a:p>
        </p:txBody>
      </p:sp>
      <p:sp>
        <p:nvSpPr>
          <p:cNvPr id="332" name="Google Shape;332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 \ is known as the escape code, which restore the original literal meaning of the following character. Similarly, </a:t>
            </a:r>
            <a:r>
              <a:rPr lang="en-US">
                <a:solidFill>
                  <a:srgbClr val="FF0000"/>
                </a:solidFill>
              </a:rPr>
              <a:t>*, +, ?</a:t>
            </a:r>
            <a:r>
              <a:rPr lang="en-US"/>
              <a:t> (occurrence indicators), </a:t>
            </a:r>
            <a:r>
              <a:rPr lang="en-US">
                <a:solidFill>
                  <a:srgbClr val="FF0000"/>
                </a:solidFill>
              </a:rPr>
              <a:t>^, $</a:t>
            </a:r>
            <a:r>
              <a:rPr lang="en-US"/>
              <a:t> (position anchors), </a:t>
            </a:r>
            <a:r>
              <a:rPr lang="en-US">
                <a:solidFill>
                  <a:srgbClr val="FF0000"/>
                </a:solidFill>
              </a:rPr>
              <a:t>\.</a:t>
            </a:r>
            <a:r>
              <a:rPr lang="en-US"/>
              <a:t> to represent </a:t>
            </a:r>
            <a:r>
              <a:rPr lang="en-US">
                <a:solidFill>
                  <a:srgbClr val="FF0000"/>
                </a:solidFill>
              </a:rPr>
              <a:t>.</a:t>
            </a:r>
            <a:r>
              <a:rPr lang="en-US"/>
              <a:t> have special meaning in regex.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a character class (ie.,square brackets[]) any characters except </a:t>
            </a:r>
            <a:r>
              <a:rPr lang="en-US">
                <a:solidFill>
                  <a:srgbClr val="FF0000"/>
                </a:solidFill>
              </a:rPr>
              <a:t>^, -, ] or \</a:t>
            </a:r>
            <a:r>
              <a:rPr lang="en-US"/>
              <a:t> is a literal, and do not require escape sequence.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ie., only these four characters, </a:t>
            </a:r>
            <a:r>
              <a:rPr lang="en-US">
                <a:solidFill>
                  <a:srgbClr val="FF0000"/>
                </a:solidFill>
              </a:rPr>
              <a:t>^, -, ] or \</a:t>
            </a:r>
            <a:r>
              <a:rPr lang="en-US"/>
              <a:t> , require escape sequence inside the bracket list: </a:t>
            </a:r>
            <a:r>
              <a:rPr lang="en-US">
                <a:solidFill>
                  <a:srgbClr val="FF0000"/>
                </a:solidFill>
              </a:rPr>
              <a:t>^, -, ], \</a:t>
            </a:r>
            <a:endParaRPr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Ex: </a:t>
            </a:r>
            <a:r>
              <a:rPr lang="en-US" b="1">
                <a:solidFill>
                  <a:srgbClr val="FF0000"/>
                </a:solidFill>
              </a:rPr>
              <a:t>[.-]?</a:t>
            </a:r>
            <a:r>
              <a:rPr lang="en-US"/>
              <a:t> matches an optional character . or -.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Escape code </a:t>
            </a:r>
            <a:r>
              <a:rPr lang="en-US" b="1">
                <a:solidFill>
                  <a:srgbClr val="00B0F0"/>
                </a:solidFill>
              </a:rPr>
              <a:t>\</a:t>
            </a:r>
            <a:endParaRPr/>
          </a:p>
        </p:txBody>
      </p:sp>
      <p:sp>
        <p:nvSpPr>
          <p:cNvPr id="338" name="Google Shape;338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Most of the special regex characters lose their meaning inside bracket list, and can be used as they are; except ^, -, ] or \.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include a ], place it first in the list, or use escape \].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include a ^, place it anywhere but first, or use escape \^.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include a - place it last, or use escape \-.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include a \, use escape \\.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No escape needed for the other characters such as ., +, *, ?, (, ), {, }, and etc, inside the bracket list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You can also include metacharacters (to be explained in the next section), such as \w, \W, \d, \D, \s, \S inside the bracket list.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findall() Function</a:t>
            </a:r>
            <a:br>
              <a:rPr lang="en-US"/>
            </a:br>
            <a:endParaRPr/>
          </a:p>
        </p:txBody>
      </p:sp>
      <p:sp>
        <p:nvSpPr>
          <p:cNvPr id="344" name="Google Shape;344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 findall() function returns a list containing all matches.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Return an empty list if no match was found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    import re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re.findall("ai", txt)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print(x)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en-US">
                <a:solidFill>
                  <a:srgbClr val="0070C0"/>
                </a:solidFill>
              </a:rPr>
              <a:t>['ai', 'ai']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search() Function</a:t>
            </a:r>
            <a:br>
              <a:rPr lang="en-US"/>
            </a:br>
            <a:endParaRPr/>
          </a:p>
        </p:txBody>
      </p:sp>
      <p:sp>
        <p:nvSpPr>
          <p:cNvPr id="350" name="Google Shape;350;p47"/>
          <p:cNvSpPr txBox="1">
            <a:spLocks noGrp="1"/>
          </p:cNvSpPr>
          <p:nvPr>
            <p:ph type="body" idx="1"/>
          </p:nvPr>
        </p:nvSpPr>
        <p:spPr>
          <a:xfrm>
            <a:off x="457200" y="1000108"/>
            <a:ext cx="8229600" cy="557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 search() function searches the string for a match, and returns a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Match object</a:t>
            </a:r>
            <a:r>
              <a:rPr lang="en-US"/>
              <a:t> if there is a match.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there is more than one match, only the first occurrence of the match will be returned.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no matches are found, the value None is returned.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Search for the first white-space character in the string: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 re</a:t>
            </a:r>
            <a:br>
              <a:rPr lang="en-US"/>
            </a:br>
            <a:br>
              <a:rPr lang="en-US"/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re.search("\s", txt)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print("The first white-space character is located in position:", x.start())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rgbClr val="00B0F0"/>
              </a:buClr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The first white-space character is located in position: 3</a:t>
            </a:r>
            <a:endParaRPr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split() Function</a:t>
            </a:r>
            <a:br>
              <a:rPr lang="en-US"/>
            </a:br>
            <a:endParaRPr/>
          </a:p>
        </p:txBody>
      </p:sp>
      <p:sp>
        <p:nvSpPr>
          <p:cNvPr id="356" name="Google Shape;356;p48"/>
          <p:cNvSpPr txBox="1">
            <a:spLocks noGrp="1"/>
          </p:cNvSpPr>
          <p:nvPr>
            <p:ph type="body" idx="1"/>
          </p:nvPr>
        </p:nvSpPr>
        <p:spPr>
          <a:xfrm>
            <a:off x="457200" y="1142984"/>
            <a:ext cx="8229600" cy="498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 split() function returns a list where the string has been split at each match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Split at each white-space character: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3200"/>
              <a:buChar char="•"/>
            </a:pPr>
            <a:r>
              <a:rPr lang="en-US">
                <a:solidFill>
                  <a:srgbClr val="00B050"/>
                </a:solidFill>
              </a:rPr>
              <a:t>import re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re.split("\s", txt)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print(x)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F0"/>
              </a:buClr>
              <a:buSzPts val="3200"/>
              <a:buChar char="•"/>
            </a:pPr>
            <a:r>
              <a:rPr lang="en-US">
                <a:solidFill>
                  <a:srgbClr val="00B0F0"/>
                </a:solidFill>
              </a:rPr>
              <a:t>['The', 'rain', 'in', 'Spain']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split() Function</a:t>
            </a:r>
            <a:br>
              <a:rPr lang="en-US"/>
            </a:br>
            <a:endParaRPr/>
          </a:p>
        </p:txBody>
      </p:sp>
      <p:sp>
        <p:nvSpPr>
          <p:cNvPr id="362" name="Google Shape;362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can control the number of occurrences by specifying the maxsplit parameter: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Split the string only at the first occurrence: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3200"/>
              <a:buChar char="•"/>
            </a:pPr>
            <a:r>
              <a:rPr lang="en-US">
                <a:solidFill>
                  <a:srgbClr val="00B050"/>
                </a:solidFill>
              </a:rPr>
              <a:t>import re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re.split("\s", txt, 1)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print(x)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</a:pPr>
            <a:r>
              <a:rPr lang="en-US">
                <a:solidFill>
                  <a:srgbClr val="0070C0"/>
                </a:solidFill>
              </a:rPr>
              <a:t>['The', 'rain in Spain']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sub() Function</a:t>
            </a:r>
            <a:br>
              <a:rPr lang="en-US"/>
            </a:br>
            <a:endParaRPr/>
          </a:p>
        </p:txBody>
      </p:sp>
      <p:sp>
        <p:nvSpPr>
          <p:cNvPr id="368" name="Google Shape;368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 sub() function replaces the matches with the text of your choice: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Replace every white-space character with the number 9: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3200"/>
              <a:buChar char="•"/>
            </a:pPr>
            <a:r>
              <a:rPr lang="en-US">
                <a:solidFill>
                  <a:srgbClr val="00B050"/>
                </a:solidFill>
              </a:rPr>
              <a:t>import re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re.sub("\s", "9", txt)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print(x)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F0"/>
              </a:buClr>
              <a:buSzPts val="3200"/>
              <a:buChar char="•"/>
            </a:pPr>
            <a:r>
              <a:rPr lang="en-US">
                <a:solidFill>
                  <a:srgbClr val="00B0F0"/>
                </a:solidFill>
              </a:rPr>
              <a:t>The9rain9in9Spain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can control the number of replacements by specifying the count parameter: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Replace the first 2 occurrences: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3200"/>
              <a:buChar char="•"/>
            </a:pPr>
            <a:r>
              <a:rPr lang="en-US">
                <a:solidFill>
                  <a:srgbClr val="00B050"/>
                </a:solidFill>
              </a:rPr>
              <a:t>import re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txt = "The rain in Spain"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x = re.sub("\s", "9", txt, 2)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print(x)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B0F0"/>
              </a:buClr>
              <a:buSzPts val="3200"/>
              <a:buChar char="•"/>
            </a:pPr>
            <a:r>
              <a:rPr lang="en-US">
                <a:solidFill>
                  <a:srgbClr val="00B0F0"/>
                </a:solidFill>
              </a:rPr>
              <a:t>The9rain9in</a:t>
            </a:r>
            <a:r>
              <a:rPr lang="en-US"/>
              <a:t> Spain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80" name="Google Shape;380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https://www3.ntu.edu.sg/home/ehchua/programming/howto/Regexe.html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2729</Words>
  <Application>Microsoft Office PowerPoint</Application>
  <PresentationFormat>On-screen Show (4:3)</PresentationFormat>
  <Paragraphs>336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Noto Sans Symbols</vt:lpstr>
      <vt:lpstr>Office Theme</vt:lpstr>
      <vt:lpstr>Regular Expressions(re)  in Python</vt:lpstr>
      <vt:lpstr>PowerPoint Presentation</vt:lpstr>
      <vt:lpstr>Validity of Mobile Number</vt:lpstr>
      <vt:lpstr>Test Case 1</vt:lpstr>
      <vt:lpstr>Test Case 2</vt:lpstr>
      <vt:lpstr>Test Case 3</vt:lpstr>
      <vt:lpstr>Test Case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“or”</vt:lpstr>
      <vt:lpstr>metacharacter  \d</vt:lpstr>
      <vt:lpstr>^[1-9][0-9]*|0$    or    ^[1-9]\d*|0$</vt:lpstr>
      <vt:lpstr>metacharacter \w</vt:lpstr>
      <vt:lpstr>metacharacter \s</vt:lpstr>
      <vt:lpstr>[Uppercase]metacharacter</vt:lpstr>
      <vt:lpstr>Escape code \</vt:lpstr>
      <vt:lpstr>Escape code \</vt:lpstr>
      <vt:lpstr>The findall() Function </vt:lpstr>
      <vt:lpstr>The search() Function </vt:lpstr>
      <vt:lpstr>The split() Function </vt:lpstr>
      <vt:lpstr>The split() Function </vt:lpstr>
      <vt:lpstr>The sub() Function 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vineet</dc:creator>
  <cp:lastModifiedBy>prassanna jayachandran</cp:lastModifiedBy>
  <cp:revision>1</cp:revision>
  <dcterms:created xsi:type="dcterms:W3CDTF">2015-08-24T08:22:09Z</dcterms:created>
  <dcterms:modified xsi:type="dcterms:W3CDTF">2025-08-11T09:07:13Z</dcterms:modified>
</cp:coreProperties>
</file>